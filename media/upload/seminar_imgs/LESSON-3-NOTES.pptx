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5" r:id="rId4"/>
    <p:sldId id="264" r:id="rId5"/>
    <p:sldId id="297" r:id="rId6"/>
    <p:sldId id="286" r:id="rId7"/>
    <p:sldId id="298" r:id="rId8"/>
    <p:sldId id="305" r:id="rId9"/>
    <p:sldId id="288" r:id="rId10"/>
    <p:sldId id="287" r:id="rId11"/>
    <p:sldId id="290" r:id="rId12"/>
    <p:sldId id="291" r:id="rId13"/>
    <p:sldId id="300" r:id="rId14"/>
    <p:sldId id="306" r:id="rId15"/>
    <p:sldId id="307" r:id="rId16"/>
    <p:sldId id="308" r:id="rId17"/>
    <p:sldId id="2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3B13-7EF0-E36F-0D55-F2D8338B3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85F5E-D4C2-BA2A-2CF6-0B08C650B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16E7E-9414-9E10-26B6-C392560B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768A6-76BF-7E9A-80DC-8CDA710D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2E200-CAE2-695F-D542-DE0DB531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7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2FEF-5B96-B5CF-7932-704FBCAF0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DD518-EB5B-AE2F-98D8-2F11453AC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BA6B9-6B6B-2529-A64B-32D91BB39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96588-3F6A-C92F-F972-8BEFDCB7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D28BE-6ABC-7B2B-89B0-498C6C24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E1B8-0D3F-5520-9AA8-D8780F14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8294E-AA4B-ACC9-319A-F1B7EFD6F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48013-3440-4248-9861-B9F13943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68181-F401-7CBB-6AF9-4FD2643F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D5CA-5812-147E-5EDF-41686E96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5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549D-EEB3-3D50-94CD-E2553B96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2785E-2D74-A1E8-BF79-EE7F3E3CD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FDC94-68D1-2BD7-A04F-AAC625948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A8F10-DF5E-2A31-E7CA-D69AA5E4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A9345-A161-95F7-BFD6-9D2FEAED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BF6CA-A38C-DEC5-C316-64FF5FDD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D8BF-042D-8AAA-A5AE-82F1FCFC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1A7B3-57A6-A636-BA3A-FF2F24D1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491E1-7D7B-A13B-9B60-504AD0C33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BA3AD-49D9-B87B-8EC6-FFE3763E9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0FF9D-80DC-9A55-C153-EA9D859D7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C1794-E142-F5F1-4F61-B4F75E34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C3235D-85F0-2757-67B2-48E1630B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58E3EA-16CE-B9BE-AF0E-60299354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4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5E93-DD5C-9442-189F-034FA28C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B10A7-A4B4-ADBE-FD71-06A787ED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16E46-751D-87C4-853A-02724B18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D8B5C-BE80-D933-3157-31389160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7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01F717-669B-18D0-0D11-F132E018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D05E3-4936-B1D2-DD35-09FC4B89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E7715-D306-6369-532A-9B7901A0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2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E4BD-C92A-4FF2-AC65-89EA0EF82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73640-450B-E716-36E8-9993491F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0B580-A84C-A380-6D1F-E3AA54331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3BC57-112A-3CF4-35DD-9EAE3017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AB032-643F-4874-BF3C-3757D412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13D-008D-62C7-A3A5-F4F766A9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8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5944-F14A-FE1C-A31C-7A227706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0EACA-D9E9-297B-3B7E-869D91123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0A879-DB32-EFAE-D488-AEDAB3207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D78-0959-39D1-8BDC-A84A3698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16E95-48A7-C4A5-CB0E-95EA3361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069FB-CB2A-798A-12AB-DE4DEA75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F4F55-6829-1FAA-3851-C56F5E09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492B1-5A5D-D2FC-B3F2-90F17D84A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9538A-35FA-7DDF-CEC9-4218C850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BF461-0FCB-06BF-7E75-48155D3F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8E9A1-B524-9A64-BF36-FBC7806D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4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51F48-4D6B-8088-FDF0-626FF0ABF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FEA15-2C67-4674-5F21-7E6A7E61D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FDBD6-C604-F0FE-B868-CDCC03AF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C677-9BB8-8697-CD98-86F4D7B7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02A8E-8C20-6FA3-C6A6-B49E41A9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0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F2AF1-2605-A111-36C6-6C4B7BD31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38E12-3C0A-730E-99F6-B8DF6ED72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0157A-A22B-6447-D9EA-ADAAC7151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EA66-3EB7-4497-93C9-9FB23B3122A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A9ED9-1343-508E-6758-93F7843CE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48E8D-8EF1-6365-4F1B-2E9BED39A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38C40-8596-4529-8FF2-79FED1158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3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B82EB7-97C2-29EB-DA2D-24C2BBE33A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66C84F-C3E1-6D0B-5F5B-8FD450518530}"/>
              </a:ext>
            </a:extLst>
          </p:cNvPr>
          <p:cNvSpPr txBox="1"/>
          <p:nvPr/>
        </p:nvSpPr>
        <p:spPr>
          <a:xfrm>
            <a:off x="2263805" y="3063666"/>
            <a:ext cx="82828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Employing the appropriate communicative styles for various situations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A6C4E-F0C7-2AF9-7826-1C1AA11F3F29}"/>
              </a:ext>
            </a:extLst>
          </p:cNvPr>
          <p:cNvSpPr txBox="1"/>
          <p:nvPr/>
        </p:nvSpPr>
        <p:spPr>
          <a:xfrm>
            <a:off x="6933460" y="708535"/>
            <a:ext cx="1127464" cy="1569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BDA0C-29E2-7D80-68B4-4F42BA88DAB5}"/>
              </a:ext>
            </a:extLst>
          </p:cNvPr>
          <p:cNvSpPr txBox="1"/>
          <p:nvPr/>
        </p:nvSpPr>
        <p:spPr>
          <a:xfrm>
            <a:off x="3110884" y="4801970"/>
            <a:ext cx="6165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(intimate, casual, conversational, consultative, frozen)</a:t>
            </a:r>
          </a:p>
        </p:txBody>
      </p:sp>
    </p:spTree>
    <p:extLst>
      <p:ext uri="{BB962C8B-B14F-4D97-AF65-F5344CB8AC3E}">
        <p14:creationId xmlns:p14="http://schemas.microsoft.com/office/powerpoint/2010/main" val="16965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B7B08F-6571-97DC-0747-FF1834AB5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106666"/>
            <a:ext cx="11020425" cy="66446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50D6C3-2E47-CC6D-B078-3D4E6B154481}"/>
              </a:ext>
            </a:extLst>
          </p:cNvPr>
          <p:cNvSpPr txBox="1"/>
          <p:nvPr/>
        </p:nvSpPr>
        <p:spPr>
          <a:xfrm>
            <a:off x="1104900" y="1524000"/>
            <a:ext cx="7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687C9-320E-9F26-0839-2287C04BE3FB}"/>
              </a:ext>
            </a:extLst>
          </p:cNvPr>
          <p:cNvSpPr txBox="1"/>
          <p:nvPr/>
        </p:nvSpPr>
        <p:spPr>
          <a:xfrm>
            <a:off x="1107489" y="2536686"/>
            <a:ext cx="7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D7252-A35F-0088-1FD1-722865820DA4}"/>
              </a:ext>
            </a:extLst>
          </p:cNvPr>
          <p:cNvSpPr txBox="1"/>
          <p:nvPr/>
        </p:nvSpPr>
        <p:spPr>
          <a:xfrm>
            <a:off x="1104900" y="3549372"/>
            <a:ext cx="7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F09E3-2CA2-8E60-AF70-47A121C03353}"/>
              </a:ext>
            </a:extLst>
          </p:cNvPr>
          <p:cNvSpPr txBox="1"/>
          <p:nvPr/>
        </p:nvSpPr>
        <p:spPr>
          <a:xfrm>
            <a:off x="1134122" y="4562058"/>
            <a:ext cx="7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FF3E8-5F61-3DC8-25AD-F9243C9ACA23}"/>
              </a:ext>
            </a:extLst>
          </p:cNvPr>
          <p:cNvSpPr txBox="1"/>
          <p:nvPr/>
        </p:nvSpPr>
        <p:spPr>
          <a:xfrm>
            <a:off x="1134122" y="5449410"/>
            <a:ext cx="7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9780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E30FC-69BA-1D61-EB25-F85F7A40B2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34"/>
          <a:stretch/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C33304-9277-CAEC-5DE4-B2AC81ACBF0B}"/>
              </a:ext>
            </a:extLst>
          </p:cNvPr>
          <p:cNvSpPr txBox="1"/>
          <p:nvPr/>
        </p:nvSpPr>
        <p:spPr>
          <a:xfrm>
            <a:off x="1356434" y="2569535"/>
            <a:ext cx="98738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speech style, according to </a:t>
            </a:r>
            <a:r>
              <a:rPr lang="en-US" sz="3200" b="1" dirty="0"/>
              <a:t>Martin Joos </a:t>
            </a:r>
            <a:r>
              <a:rPr lang="en-US" sz="3200" dirty="0"/>
              <a:t>(1976), a linguist and German professor, refers to the form of language that the speaker utilized which is characterized by the level of formality. </a:t>
            </a:r>
            <a:r>
              <a:rPr lang="en-US" sz="3200" b="1" dirty="0">
                <a:highlight>
                  <a:srgbClr val="FFFF00"/>
                </a:highlight>
              </a:rPr>
              <a:t>Speech style </a:t>
            </a:r>
            <a:r>
              <a:rPr lang="en-US" sz="3200" dirty="0"/>
              <a:t>is identified into </a:t>
            </a:r>
            <a:r>
              <a:rPr lang="en-US" sz="3200" b="1" dirty="0"/>
              <a:t>five types:</a:t>
            </a:r>
          </a:p>
          <a:p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405B9-D23D-BFBA-5C68-1A5902023CDC}"/>
              </a:ext>
            </a:extLst>
          </p:cNvPr>
          <p:cNvSpPr txBox="1"/>
          <p:nvPr/>
        </p:nvSpPr>
        <p:spPr>
          <a:xfrm>
            <a:off x="1680862" y="4790069"/>
            <a:ext cx="90167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Intimate, Casual, Conversational, Consultative and Frozen.</a:t>
            </a:r>
          </a:p>
        </p:txBody>
      </p:sp>
    </p:spTree>
    <p:extLst>
      <p:ext uri="{BB962C8B-B14F-4D97-AF65-F5344CB8AC3E}">
        <p14:creationId xmlns:p14="http://schemas.microsoft.com/office/powerpoint/2010/main" val="11728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3B062-6C14-66CF-C8F0-1D6676993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873" y="2205678"/>
            <a:ext cx="2924175" cy="2752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84060D-D95A-D4EB-E3B9-B5466E777BC7}"/>
              </a:ext>
            </a:extLst>
          </p:cNvPr>
          <p:cNvSpPr txBox="1"/>
          <p:nvPr/>
        </p:nvSpPr>
        <p:spPr>
          <a:xfrm>
            <a:off x="4644845" y="1250930"/>
            <a:ext cx="6169891" cy="954107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6169891"/>
                      <a:gd name="connsiteY0" fmla="*/ 0 h 954107"/>
                      <a:gd name="connsiteX1" fmla="*/ 6169891 w 6169891"/>
                      <a:gd name="connsiteY1" fmla="*/ 0 h 954107"/>
                      <a:gd name="connsiteX2" fmla="*/ 6169891 w 6169891"/>
                      <a:gd name="connsiteY2" fmla="*/ 954107 h 954107"/>
                      <a:gd name="connsiteX3" fmla="*/ 0 w 6169891"/>
                      <a:gd name="connsiteY3" fmla="*/ 954107 h 954107"/>
                      <a:gd name="connsiteX4" fmla="*/ 0 w 6169891"/>
                      <a:gd name="connsiteY4" fmla="*/ 0 h 95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69891" h="954107" fill="none" extrusionOk="0">
                        <a:moveTo>
                          <a:pt x="0" y="0"/>
                        </a:moveTo>
                        <a:cubicBezTo>
                          <a:pt x="2803374" y="-33775"/>
                          <a:pt x="3690439" y="138873"/>
                          <a:pt x="6169891" y="0"/>
                        </a:cubicBezTo>
                        <a:cubicBezTo>
                          <a:pt x="6178908" y="171584"/>
                          <a:pt x="6118528" y="737546"/>
                          <a:pt x="6169891" y="954107"/>
                        </a:cubicBezTo>
                        <a:cubicBezTo>
                          <a:pt x="4138400" y="816777"/>
                          <a:pt x="1320421" y="816251"/>
                          <a:pt x="0" y="954107"/>
                        </a:cubicBezTo>
                        <a:cubicBezTo>
                          <a:pt x="-56882" y="581392"/>
                          <a:pt x="18106" y="109664"/>
                          <a:pt x="0" y="0"/>
                        </a:cubicBezTo>
                        <a:close/>
                      </a:path>
                      <a:path w="6169891" h="954107" stroke="0" extrusionOk="0">
                        <a:moveTo>
                          <a:pt x="0" y="0"/>
                        </a:moveTo>
                        <a:cubicBezTo>
                          <a:pt x="1484673" y="-101487"/>
                          <a:pt x="4192821" y="-162162"/>
                          <a:pt x="6169891" y="0"/>
                        </a:cubicBezTo>
                        <a:cubicBezTo>
                          <a:pt x="6144143" y="202522"/>
                          <a:pt x="6186490" y="579398"/>
                          <a:pt x="6169891" y="954107"/>
                        </a:cubicBezTo>
                        <a:cubicBezTo>
                          <a:pt x="4271506" y="1004172"/>
                          <a:pt x="2323626" y="795658"/>
                          <a:pt x="0" y="954107"/>
                        </a:cubicBezTo>
                        <a:cubicBezTo>
                          <a:pt x="20393" y="677381"/>
                          <a:pt x="-45310" y="15853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Private talk between people who are </a:t>
            </a:r>
            <a:r>
              <a:rPr lang="en-US" sz="2800" b="1" dirty="0"/>
              <a:t>very close </a:t>
            </a:r>
            <a:r>
              <a:rPr lang="en-US" sz="2800" dirty="0"/>
              <a:t>(family, lovers, best friends).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AC22F-4F91-0D57-665F-6F5142BBB43B}"/>
              </a:ext>
            </a:extLst>
          </p:cNvPr>
          <p:cNvSpPr txBox="1"/>
          <p:nvPr/>
        </p:nvSpPr>
        <p:spPr>
          <a:xfrm>
            <a:off x="1635167" y="1558706"/>
            <a:ext cx="2681585" cy="64633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1. INTIMATE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938199-9191-FBD8-99DC-7BDDBB3FFF5E}"/>
              </a:ext>
            </a:extLst>
          </p:cNvPr>
          <p:cNvSpPr txBox="1"/>
          <p:nvPr/>
        </p:nvSpPr>
        <p:spPr>
          <a:xfrm>
            <a:off x="4669009" y="2299395"/>
            <a:ext cx="6169890" cy="1384995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How it sounds:</a:t>
            </a:r>
            <a:r>
              <a:rPr lang="en-US" sz="2800" dirty="0"/>
              <a:t> Short lines, nicknames, inside jokes, sometimes baby-talk. Much is understood without words.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0A3A8-CDCB-7640-BD85-EADFFE791BA8}"/>
              </a:ext>
            </a:extLst>
          </p:cNvPr>
          <p:cNvSpPr txBox="1"/>
          <p:nvPr/>
        </p:nvSpPr>
        <p:spPr>
          <a:xfrm>
            <a:off x="4742899" y="3778748"/>
            <a:ext cx="6096000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>
            <a:spAutoFit/>
          </a:bodyPr>
          <a:lstStyle/>
          <a:p>
            <a:r>
              <a:rPr lang="en-US" sz="2800" b="1" dirty="0"/>
              <a:t>Where you hear it:</a:t>
            </a:r>
            <a:r>
              <a:rPr lang="en-US" sz="2800" dirty="0"/>
              <a:t> At home, with a partner, with a close sibling.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FCCFE-2CEE-4EAD-45ED-8CC5FE6129E8}"/>
              </a:ext>
            </a:extLst>
          </p:cNvPr>
          <p:cNvSpPr txBox="1"/>
          <p:nvPr/>
        </p:nvSpPr>
        <p:spPr>
          <a:xfrm>
            <a:off x="4742899" y="4975351"/>
            <a:ext cx="6096000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 a nickname and short phrases. You don’t need full sentences.</a:t>
            </a:r>
          </a:p>
        </p:txBody>
      </p:sp>
    </p:spTree>
    <p:extLst>
      <p:ext uri="{BB962C8B-B14F-4D97-AF65-F5344CB8AC3E}">
        <p14:creationId xmlns:p14="http://schemas.microsoft.com/office/powerpoint/2010/main" val="366611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3D4C47-1899-F386-CB4D-E28D89839BEF}"/>
              </a:ext>
            </a:extLst>
          </p:cNvPr>
          <p:cNvSpPr txBox="1"/>
          <p:nvPr/>
        </p:nvSpPr>
        <p:spPr>
          <a:xfrm>
            <a:off x="1890944" y="905522"/>
            <a:ext cx="90197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Examples:</a:t>
            </a:r>
          </a:p>
          <a:p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“ I really miss you, I can’t wait to see you again.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CCBE4-759F-4C2F-FED4-F4AA672C4643}"/>
              </a:ext>
            </a:extLst>
          </p:cNvPr>
          <p:cNvSpPr txBox="1"/>
          <p:nvPr/>
        </p:nvSpPr>
        <p:spPr>
          <a:xfrm>
            <a:off x="1889420" y="2361460"/>
            <a:ext cx="9305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 “ You mean the world to me, and I love you more than words can express”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D185C-0934-1BC8-4970-C58F0C198AA1}"/>
              </a:ext>
            </a:extLst>
          </p:cNvPr>
          <p:cNvSpPr txBox="1"/>
          <p:nvPr/>
        </p:nvSpPr>
        <p:spPr>
          <a:xfrm>
            <a:off x="1889420" y="3315567"/>
            <a:ext cx="9305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 “ I am feeling vulnerable right now, and I need your support.”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FF2D6-A032-5A32-6B8C-7E6416B58E01}"/>
              </a:ext>
            </a:extLst>
          </p:cNvPr>
          <p:cNvSpPr txBox="1"/>
          <p:nvPr/>
        </p:nvSpPr>
        <p:spPr>
          <a:xfrm>
            <a:off x="1889420" y="4294451"/>
            <a:ext cx="9305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 “Mom : Let’s eat dinner now.</a:t>
            </a:r>
          </a:p>
          <a:p>
            <a:r>
              <a:rPr lang="en-US" sz="2800" b="1" dirty="0"/>
              <a:t>       Son : Okay mom, five more minutes” </a:t>
            </a:r>
          </a:p>
        </p:txBody>
      </p:sp>
    </p:spTree>
    <p:extLst>
      <p:ext uri="{BB962C8B-B14F-4D97-AF65-F5344CB8AC3E}">
        <p14:creationId xmlns:p14="http://schemas.microsoft.com/office/powerpoint/2010/main" val="201826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CE0CA8-CA20-5FDB-7C04-47CCABE9B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838" y="2649925"/>
            <a:ext cx="2933700" cy="26193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06F644-C49E-55E7-49AF-ACDCFEB553E8}"/>
              </a:ext>
            </a:extLst>
          </p:cNvPr>
          <p:cNvSpPr txBox="1"/>
          <p:nvPr/>
        </p:nvSpPr>
        <p:spPr>
          <a:xfrm>
            <a:off x="1812925" y="1871187"/>
            <a:ext cx="2251076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2. Casual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F8386-2E80-8C08-DFE4-DDBB15797D93}"/>
              </a:ext>
            </a:extLst>
          </p:cNvPr>
          <p:cNvSpPr txBox="1"/>
          <p:nvPr/>
        </p:nvSpPr>
        <p:spPr>
          <a:xfrm>
            <a:off x="4669272" y="1255941"/>
            <a:ext cx="616989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Informal talk </a:t>
            </a:r>
            <a:r>
              <a:rPr lang="en-US" sz="2800" dirty="0"/>
              <a:t>with friends or classmates. Not rude, but relaxed.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2CE70-D135-5953-D6F6-C34FC1D76421}"/>
              </a:ext>
            </a:extLst>
          </p:cNvPr>
          <p:cNvSpPr txBox="1"/>
          <p:nvPr/>
        </p:nvSpPr>
        <p:spPr>
          <a:xfrm>
            <a:off x="4669272" y="2464922"/>
            <a:ext cx="616989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How it sounds: </a:t>
            </a:r>
            <a:r>
              <a:rPr lang="en-US" sz="2800" dirty="0"/>
              <a:t>Contractions, slang, missing some words. Simple and friendly.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730FF-E301-2A24-456A-68B1F2CB0A10}"/>
              </a:ext>
            </a:extLst>
          </p:cNvPr>
          <p:cNvSpPr txBox="1"/>
          <p:nvPr/>
        </p:nvSpPr>
        <p:spPr>
          <a:xfrm>
            <a:off x="4682836" y="4104791"/>
            <a:ext cx="616989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Where you hear it: </a:t>
            </a:r>
            <a:r>
              <a:rPr lang="en-US" sz="2800" dirty="0"/>
              <a:t>Hanging out, chatting after class, texting friends.</a:t>
            </a:r>
          </a:p>
        </p:txBody>
      </p:sp>
    </p:spTree>
    <p:extLst>
      <p:ext uri="{BB962C8B-B14F-4D97-AF65-F5344CB8AC3E}">
        <p14:creationId xmlns:p14="http://schemas.microsoft.com/office/powerpoint/2010/main" val="321001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-409145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3D4C47-1899-F386-CB4D-E28D89839BEF}"/>
              </a:ext>
            </a:extLst>
          </p:cNvPr>
          <p:cNvSpPr txBox="1"/>
          <p:nvPr/>
        </p:nvSpPr>
        <p:spPr>
          <a:xfrm>
            <a:off x="1890944" y="905522"/>
            <a:ext cx="90197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Examples:</a:t>
            </a:r>
          </a:p>
          <a:p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“Wanna grab a bite later?”.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CCBE4-759F-4C2F-FED4-F4AA672C4643}"/>
              </a:ext>
            </a:extLst>
          </p:cNvPr>
          <p:cNvSpPr txBox="1"/>
          <p:nvPr/>
        </p:nvSpPr>
        <p:spPr>
          <a:xfrm>
            <a:off x="1889420" y="2361460"/>
            <a:ext cx="9305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 “ I had a blast at the party last night!”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D185C-0934-1BC8-4970-C58F0C198AA1}"/>
              </a:ext>
            </a:extLst>
          </p:cNvPr>
          <p:cNvSpPr txBox="1"/>
          <p:nvPr/>
        </p:nvSpPr>
        <p:spPr>
          <a:xfrm>
            <a:off x="1889420" y="3019214"/>
            <a:ext cx="9305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 Ana: “Hey, game tonight?”</a:t>
            </a:r>
          </a:p>
          <a:p>
            <a:r>
              <a:rPr lang="en-US" sz="2800" b="1" dirty="0"/>
              <a:t>    Ben: “Sure. Meet at 7 at the café.”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872C2-F2B7-6818-2A88-0A33A310E3EF}"/>
              </a:ext>
            </a:extLst>
          </p:cNvPr>
          <p:cNvSpPr txBox="1"/>
          <p:nvPr/>
        </p:nvSpPr>
        <p:spPr>
          <a:xfrm>
            <a:off x="2216728" y="4436180"/>
            <a:ext cx="7038110" cy="58477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3200" b="1" dirty="0"/>
              <a:t>Short, friendly words. Easy and relaxed.</a:t>
            </a:r>
          </a:p>
        </p:txBody>
      </p:sp>
    </p:spTree>
    <p:extLst>
      <p:ext uri="{BB962C8B-B14F-4D97-AF65-F5344CB8AC3E}">
        <p14:creationId xmlns:p14="http://schemas.microsoft.com/office/powerpoint/2010/main" val="258184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C9AD5-7B76-D7B0-BC6C-26DD7E53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D61C67F-A0E2-9A66-4522-8CFFBBBFF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849C4-2BB2-165D-C673-74A4F108D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186D2A-5AFF-8BD6-2791-6EFC95707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565" y="2600165"/>
            <a:ext cx="2800350" cy="2771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127D0B-645C-47A0-DB65-312864EC9D88}"/>
              </a:ext>
            </a:extLst>
          </p:cNvPr>
          <p:cNvSpPr txBox="1"/>
          <p:nvPr/>
        </p:nvSpPr>
        <p:spPr>
          <a:xfrm>
            <a:off x="443347" y="1953193"/>
            <a:ext cx="4230254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3. CONVERSATIONAL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1B35D-402C-B93E-C7F6-50F18CA1FBD2}"/>
              </a:ext>
            </a:extLst>
          </p:cNvPr>
          <p:cNvSpPr txBox="1"/>
          <p:nvPr/>
        </p:nvSpPr>
        <p:spPr>
          <a:xfrm>
            <a:off x="4780108" y="999086"/>
            <a:ext cx="616989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Polite everyday talk </a:t>
            </a:r>
            <a:r>
              <a:rPr lang="en-US" sz="2800" dirty="0"/>
              <a:t>between people who know each other but aren’t very close (neighbors, co-workers, classmates).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120DA4-FEB0-B707-963B-806B34FFD434}"/>
              </a:ext>
            </a:extLst>
          </p:cNvPr>
          <p:cNvSpPr txBox="1"/>
          <p:nvPr/>
        </p:nvSpPr>
        <p:spPr>
          <a:xfrm>
            <a:off x="4780108" y="2904831"/>
            <a:ext cx="616989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How it sounds: </a:t>
            </a:r>
            <a:r>
              <a:rPr lang="en-US" sz="2800" dirty="0"/>
              <a:t>Full sentences, polite words, people explain a bit so the other person understands..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C6735-78B6-929E-8C40-511D3EEE4B6F}"/>
              </a:ext>
            </a:extLst>
          </p:cNvPr>
          <p:cNvSpPr txBox="1"/>
          <p:nvPr/>
        </p:nvSpPr>
        <p:spPr>
          <a:xfrm>
            <a:off x="4780108" y="4473919"/>
            <a:ext cx="616989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Where you hear it: </a:t>
            </a:r>
            <a:r>
              <a:rPr lang="en-US" sz="2800" dirty="0"/>
              <a:t>Everyday talks, asking for help, small group work.</a:t>
            </a:r>
          </a:p>
        </p:txBody>
      </p:sp>
    </p:spTree>
    <p:extLst>
      <p:ext uri="{BB962C8B-B14F-4D97-AF65-F5344CB8AC3E}">
        <p14:creationId xmlns:p14="http://schemas.microsoft.com/office/powerpoint/2010/main" val="295576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523558-BE76-4011-C131-C7BDED72C6E5}"/>
              </a:ext>
            </a:extLst>
          </p:cNvPr>
          <p:cNvSpPr txBox="1"/>
          <p:nvPr/>
        </p:nvSpPr>
        <p:spPr>
          <a:xfrm>
            <a:off x="1831759" y="951491"/>
            <a:ext cx="85284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Examples: </a:t>
            </a:r>
          </a:p>
          <a:p>
            <a:endParaRPr lang="en-US" sz="3200" dirty="0"/>
          </a:p>
          <a:p>
            <a:r>
              <a:rPr lang="en-US" sz="3200" dirty="0"/>
              <a:t>• </a:t>
            </a:r>
            <a:r>
              <a:rPr lang="en-US" sz="3200" b="1" dirty="0"/>
              <a:t>Maria:</a:t>
            </a:r>
            <a:r>
              <a:rPr lang="en-US" sz="3200" dirty="0"/>
              <a:t> “Could you explain slide three? I don’t understand the graph.”</a:t>
            </a:r>
          </a:p>
          <a:p>
            <a:r>
              <a:rPr lang="en-US" sz="3200" b="1" dirty="0"/>
              <a:t>Joel:</a:t>
            </a:r>
            <a:r>
              <a:rPr lang="en-US" sz="3200" dirty="0"/>
              <a:t> “Of course. The red line is last month’s sales — it goes up here.”</a:t>
            </a:r>
            <a:endParaRPr lang="en-US" sz="32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D7571-EE81-2E1B-E0E8-66DC3719AE47}"/>
              </a:ext>
            </a:extLst>
          </p:cNvPr>
          <p:cNvSpPr txBox="1"/>
          <p:nvPr/>
        </p:nvSpPr>
        <p:spPr>
          <a:xfrm>
            <a:off x="1948872" y="4905019"/>
            <a:ext cx="8599055" cy="52322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Polite request + clear explanation. Both people share info.</a:t>
            </a:r>
          </a:p>
        </p:txBody>
      </p:sp>
    </p:spTree>
    <p:extLst>
      <p:ext uri="{BB962C8B-B14F-4D97-AF65-F5344CB8AC3E}">
        <p14:creationId xmlns:p14="http://schemas.microsoft.com/office/powerpoint/2010/main" val="298987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7FC051-488C-D71B-117C-7EF5F19699B5}"/>
              </a:ext>
            </a:extLst>
          </p:cNvPr>
          <p:cNvSpPr txBox="1"/>
          <p:nvPr/>
        </p:nvSpPr>
        <p:spPr>
          <a:xfrm>
            <a:off x="937209" y="1990138"/>
            <a:ext cx="3657598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4. CONSULTATIVE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3542B-F38A-23CC-67F9-267659577F3C}"/>
              </a:ext>
            </a:extLst>
          </p:cNvPr>
          <p:cNvSpPr txBox="1"/>
          <p:nvPr/>
        </p:nvSpPr>
        <p:spPr>
          <a:xfrm>
            <a:off x="4780108" y="999086"/>
            <a:ext cx="616989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Semi-formal talk </a:t>
            </a:r>
            <a:r>
              <a:rPr lang="en-US" sz="2800" dirty="0"/>
              <a:t>where one person is an expert and helps the other (doctor, teacher, boss). It is respectful and helpful.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B69E0-B93C-6B29-EEBD-68DDE83E703E}"/>
              </a:ext>
            </a:extLst>
          </p:cNvPr>
          <p:cNvSpPr txBox="1"/>
          <p:nvPr/>
        </p:nvSpPr>
        <p:spPr>
          <a:xfrm>
            <a:off x="4780108" y="2904831"/>
            <a:ext cx="616989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How it sounds: </a:t>
            </a:r>
            <a:r>
              <a:rPr lang="en-US" sz="2800" dirty="0"/>
              <a:t>Clear language, some technical words if needed, the expert gives advice and background.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9CBCC-6377-B07D-13B2-FEAEC81DF4CB}"/>
              </a:ext>
            </a:extLst>
          </p:cNvPr>
          <p:cNvSpPr txBox="1"/>
          <p:nvPr/>
        </p:nvSpPr>
        <p:spPr>
          <a:xfrm>
            <a:off x="4780108" y="4473919"/>
            <a:ext cx="616989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Where you hear it: </a:t>
            </a:r>
            <a:r>
              <a:rPr lang="en-US" sz="2800" dirty="0"/>
              <a:t>Doctor–patient, teacher–student conference, job instruction.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C09B68-6D48-81D4-211C-0CA3AB634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706" y="2763052"/>
            <a:ext cx="29718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8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99DA85-D2FE-7B9F-1010-5DABFC154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1666875"/>
            <a:ext cx="8334375" cy="4193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A320A6-986D-5DF6-134F-0C35C00931EB}"/>
              </a:ext>
            </a:extLst>
          </p:cNvPr>
          <p:cNvSpPr txBox="1"/>
          <p:nvPr/>
        </p:nvSpPr>
        <p:spPr>
          <a:xfrm>
            <a:off x="2590800" y="1000125"/>
            <a:ext cx="3419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1709919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EAF521-D55D-65F4-4845-B4A969B6E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42" y="766762"/>
            <a:ext cx="3086100" cy="3171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E8EFB1-7F65-FD71-DFAF-098C99D4F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343" y="452437"/>
            <a:ext cx="6765132" cy="6281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13DACA-6D69-9929-B266-C6D8CCDBFC52}"/>
              </a:ext>
            </a:extLst>
          </p:cNvPr>
          <p:cNvSpPr txBox="1"/>
          <p:nvPr/>
        </p:nvSpPr>
        <p:spPr>
          <a:xfrm>
            <a:off x="836232" y="4197977"/>
            <a:ext cx="41985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Examples: </a:t>
            </a:r>
          </a:p>
          <a:p>
            <a:r>
              <a:rPr lang="en-US" sz="2400" dirty="0"/>
              <a:t>• Using formal language with specific rules and conventions, like in ceremonies or official documents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9012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-409145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3D4C47-1899-F386-CB4D-E28D89839BEF}"/>
              </a:ext>
            </a:extLst>
          </p:cNvPr>
          <p:cNvSpPr txBox="1"/>
          <p:nvPr/>
        </p:nvSpPr>
        <p:spPr>
          <a:xfrm>
            <a:off x="1890944" y="905522"/>
            <a:ext cx="90197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Examples:</a:t>
            </a:r>
          </a:p>
          <a:p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“ I hereby declare this meeting open.”.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CCBE4-759F-4C2F-FED4-F4AA672C4643}"/>
              </a:ext>
            </a:extLst>
          </p:cNvPr>
          <p:cNvSpPr txBox="1"/>
          <p:nvPr/>
        </p:nvSpPr>
        <p:spPr>
          <a:xfrm>
            <a:off x="1889420" y="2361460"/>
            <a:ext cx="93053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 “ We , the undersigned, agree to the terms and conditions stated herein” 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1770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198F-ADC7-6FA1-757D-C85B35D9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C8B802-C5D6-42AF-AE90-2E7478227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-409145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E95987-8A32-12DC-EE9E-8F467572E5A4}"/>
              </a:ext>
            </a:extLst>
          </p:cNvPr>
          <p:cNvSpPr txBox="1"/>
          <p:nvPr/>
        </p:nvSpPr>
        <p:spPr>
          <a:xfrm>
            <a:off x="2565198" y="656140"/>
            <a:ext cx="9019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highlight>
                  <a:srgbClr val="FFFF00"/>
                </a:highlight>
              </a:rPr>
              <a:t>Quick cheat sheet</a:t>
            </a:r>
            <a:endParaRPr lang="en-US" sz="32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7AA76A-308F-AC17-EEB8-608768733512}"/>
              </a:ext>
            </a:extLst>
          </p:cNvPr>
          <p:cNvSpPr txBox="1"/>
          <p:nvPr/>
        </p:nvSpPr>
        <p:spPr>
          <a:xfrm>
            <a:off x="1597891" y="1579418"/>
            <a:ext cx="6659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Intimate:</a:t>
            </a:r>
            <a:r>
              <a:rPr lang="en-US" sz="2800" dirty="0"/>
              <a:t> very close people, private words.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CF12C-5F3E-6A76-68B1-B54F55544CCE}"/>
              </a:ext>
            </a:extLst>
          </p:cNvPr>
          <p:cNvSpPr txBox="1"/>
          <p:nvPr/>
        </p:nvSpPr>
        <p:spPr>
          <a:xfrm>
            <a:off x="1597891" y="2044590"/>
            <a:ext cx="6659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Casual: </a:t>
            </a:r>
            <a:r>
              <a:rPr lang="en-US" sz="2800" dirty="0"/>
              <a:t>friends, relaxed talk.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AD786-18F1-71CB-81A0-090469D5045E}"/>
              </a:ext>
            </a:extLst>
          </p:cNvPr>
          <p:cNvSpPr txBox="1"/>
          <p:nvPr/>
        </p:nvSpPr>
        <p:spPr>
          <a:xfrm>
            <a:off x="1597891" y="2567810"/>
            <a:ext cx="6659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Conversational: </a:t>
            </a:r>
            <a:r>
              <a:rPr lang="en-US" sz="2800" dirty="0"/>
              <a:t>polite everyday talk, explain a little.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06C49D-9359-C4D2-F70F-0E033AB7C4AD}"/>
              </a:ext>
            </a:extLst>
          </p:cNvPr>
          <p:cNvSpPr txBox="1"/>
          <p:nvPr/>
        </p:nvSpPr>
        <p:spPr>
          <a:xfrm>
            <a:off x="1597890" y="3510035"/>
            <a:ext cx="9190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Consultative: </a:t>
            </a:r>
            <a:r>
              <a:rPr lang="en-US" sz="2800" dirty="0"/>
              <a:t>expert helps client; clear and slightly formal.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6743E-9A43-80C2-84C0-1958FC489BF6}"/>
              </a:ext>
            </a:extLst>
          </p:cNvPr>
          <p:cNvSpPr txBox="1"/>
          <p:nvPr/>
        </p:nvSpPr>
        <p:spPr>
          <a:xfrm>
            <a:off x="1597889" y="4110148"/>
            <a:ext cx="9190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Frozen: </a:t>
            </a:r>
            <a:r>
              <a:rPr lang="en-US" sz="2800" dirty="0"/>
              <a:t>ritual or fixed words (oath, anthem, prayer).</a:t>
            </a:r>
          </a:p>
        </p:txBody>
      </p:sp>
    </p:spTree>
    <p:extLst>
      <p:ext uri="{BB962C8B-B14F-4D97-AF65-F5344CB8AC3E}">
        <p14:creationId xmlns:p14="http://schemas.microsoft.com/office/powerpoint/2010/main" val="6419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F82C-5FAD-B027-B3BB-B182FDF72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2FAAD2-30AA-8EE4-A2B9-33AC20968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-409145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EC2C0D-7A96-4051-12F7-767DE4768946}"/>
              </a:ext>
            </a:extLst>
          </p:cNvPr>
          <p:cNvSpPr txBox="1"/>
          <p:nvPr/>
        </p:nvSpPr>
        <p:spPr>
          <a:xfrm>
            <a:off x="3895235" y="1866104"/>
            <a:ext cx="901971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highlight>
                  <a:srgbClr val="FFFF00"/>
                </a:highlight>
              </a:rPr>
              <a:t>PRACTICE</a:t>
            </a:r>
          </a:p>
          <a:p>
            <a:endParaRPr lang="en-US" sz="2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839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3366-B57D-C484-0E61-527A9297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58FE28-3917-C649-64DE-C2472B2A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-409145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117C3E-3808-DC24-5082-8920AA41797C}"/>
              </a:ext>
            </a:extLst>
          </p:cNvPr>
          <p:cNvSpPr txBox="1"/>
          <p:nvPr/>
        </p:nvSpPr>
        <p:spPr>
          <a:xfrm>
            <a:off x="1865745" y="680431"/>
            <a:ext cx="885767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DIRECTIONS : Read each line and pick the style. Answers are below.</a:t>
            </a:r>
          </a:p>
          <a:p>
            <a:r>
              <a:rPr lang="en-US" sz="3200" dirty="0"/>
              <a:t>1. “Hey, let’s meet after school.”</a:t>
            </a:r>
          </a:p>
          <a:p>
            <a:r>
              <a:rPr lang="en-US" sz="3200" dirty="0"/>
              <a:t>2. “Please describe your symptoms.”</a:t>
            </a:r>
          </a:p>
          <a:p>
            <a:r>
              <a:rPr lang="en-US" sz="3200" dirty="0"/>
              <a:t>3. “I, [name], do solemnly swear…”</a:t>
            </a:r>
          </a:p>
          <a:p>
            <a:r>
              <a:rPr lang="en-US" sz="3200" dirty="0"/>
              <a:t>4. “Baby, I’m asleep.”</a:t>
            </a:r>
          </a:p>
          <a:p>
            <a:r>
              <a:rPr lang="en-US" sz="3200" dirty="0"/>
              <a:t>5. “Could you show me how to do number 5 on the worksheet?”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D2B41-1577-CF03-078E-F61233737DEF}"/>
              </a:ext>
            </a:extLst>
          </p:cNvPr>
          <p:cNvSpPr txBox="1"/>
          <p:nvPr/>
        </p:nvSpPr>
        <p:spPr>
          <a:xfrm>
            <a:off x="7426014" y="1557586"/>
            <a:ext cx="2022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Casual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353B7-3C5F-3EE4-3F73-34179501A06C}"/>
              </a:ext>
            </a:extLst>
          </p:cNvPr>
          <p:cNvSpPr txBox="1"/>
          <p:nvPr/>
        </p:nvSpPr>
        <p:spPr>
          <a:xfrm>
            <a:off x="7976750" y="2117254"/>
            <a:ext cx="2784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Consultative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3EC70-25BC-02F9-F9E0-E79AADF082D1}"/>
              </a:ext>
            </a:extLst>
          </p:cNvPr>
          <p:cNvSpPr txBox="1"/>
          <p:nvPr/>
        </p:nvSpPr>
        <p:spPr>
          <a:xfrm>
            <a:off x="7793177" y="2594498"/>
            <a:ext cx="2784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frozen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90812-E027-0D3C-1593-918F6F200BA0}"/>
              </a:ext>
            </a:extLst>
          </p:cNvPr>
          <p:cNvSpPr txBox="1"/>
          <p:nvPr/>
        </p:nvSpPr>
        <p:spPr>
          <a:xfrm>
            <a:off x="5467931" y="3136612"/>
            <a:ext cx="2784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intimate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FD9F8F-590E-C9CF-C67F-2ADEB0886D05}"/>
              </a:ext>
            </a:extLst>
          </p:cNvPr>
          <p:cNvSpPr txBox="1"/>
          <p:nvPr/>
        </p:nvSpPr>
        <p:spPr>
          <a:xfrm>
            <a:off x="4075547" y="4130863"/>
            <a:ext cx="2784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conversational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2BFB2-74B4-CA6C-9518-9C853B29E4EE}"/>
              </a:ext>
            </a:extLst>
          </p:cNvPr>
          <p:cNvSpPr txBox="1"/>
          <p:nvPr/>
        </p:nvSpPr>
        <p:spPr>
          <a:xfrm>
            <a:off x="1136073" y="4757594"/>
            <a:ext cx="97074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Which two styles differ most in terms of language flexibility and audience participation?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7E4654-5220-2D9D-A97E-19459EB45FF0}"/>
              </a:ext>
            </a:extLst>
          </p:cNvPr>
          <p:cNvSpPr txBox="1"/>
          <p:nvPr/>
        </p:nvSpPr>
        <p:spPr>
          <a:xfrm>
            <a:off x="4978400" y="5218545"/>
            <a:ext cx="4036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Frozen and casual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851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9828-2E7E-52DC-E0A0-556E3D081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84FE6E-188B-225A-487E-C94005CC61FE}"/>
              </a:ext>
            </a:extLst>
          </p:cNvPr>
          <p:cNvSpPr txBox="1"/>
          <p:nvPr/>
        </p:nvSpPr>
        <p:spPr>
          <a:xfrm>
            <a:off x="2168370" y="728838"/>
            <a:ext cx="86268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Directions: Identify the speech style appropriate to the following situations.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C72C3-0E9D-080E-0398-5F6FD4EB6514}"/>
              </a:ext>
            </a:extLst>
          </p:cNvPr>
          <p:cNvSpPr txBox="1"/>
          <p:nvPr/>
        </p:nvSpPr>
        <p:spPr>
          <a:xfrm>
            <a:off x="1627202" y="1727957"/>
            <a:ext cx="99932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________1. talking to a counselor or a physician </a:t>
            </a:r>
          </a:p>
          <a:p>
            <a:r>
              <a:rPr lang="en-US" sz="2800" dirty="0"/>
              <a:t>________2. inquiring on how to enroll </a:t>
            </a:r>
          </a:p>
          <a:p>
            <a:r>
              <a:rPr lang="en-US" sz="2800" dirty="0"/>
              <a:t>________3. delivering an oratorical speech </a:t>
            </a:r>
          </a:p>
          <a:p>
            <a:r>
              <a:rPr lang="en-US" sz="2800" dirty="0"/>
              <a:t>________4. communicating while playing sports </a:t>
            </a:r>
          </a:p>
          <a:p>
            <a:r>
              <a:rPr lang="en-US" sz="2800" dirty="0"/>
              <a:t>________5. reading school policies </a:t>
            </a:r>
          </a:p>
          <a:p>
            <a:r>
              <a:rPr lang="en-US" sz="2800" dirty="0"/>
              <a:t>________6. praying before meals </a:t>
            </a:r>
          </a:p>
          <a:p>
            <a:r>
              <a:rPr lang="en-US" sz="2800" dirty="0"/>
              <a:t>________7. having one-on-one conversation with a stranger </a:t>
            </a:r>
          </a:p>
          <a:p>
            <a:r>
              <a:rPr lang="en-US" sz="2800" dirty="0"/>
              <a:t>________8. chatting with friends about planned vacation </a:t>
            </a:r>
          </a:p>
          <a:p>
            <a:r>
              <a:rPr lang="en-US" sz="2800" dirty="0"/>
              <a:t>________9. reading the pledge of loyalty </a:t>
            </a:r>
          </a:p>
          <a:p>
            <a:r>
              <a:rPr lang="en-US" sz="2800" dirty="0"/>
              <a:t>________10. talking and laughing about memorable experiences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465F0-5E6D-C8ED-6AEB-500D67556D8A}"/>
              </a:ext>
            </a:extLst>
          </p:cNvPr>
          <p:cNvSpPr txBox="1"/>
          <p:nvPr/>
        </p:nvSpPr>
        <p:spPr>
          <a:xfrm>
            <a:off x="936736" y="1651582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consultative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FE300-27FA-DFC2-3517-7A686FD14623}"/>
              </a:ext>
            </a:extLst>
          </p:cNvPr>
          <p:cNvSpPr txBox="1"/>
          <p:nvPr/>
        </p:nvSpPr>
        <p:spPr>
          <a:xfrm>
            <a:off x="993796" y="2118113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consultative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7E9CA-B3DF-68BF-A990-DDE9384E85DF}"/>
              </a:ext>
            </a:extLst>
          </p:cNvPr>
          <p:cNvSpPr txBox="1"/>
          <p:nvPr/>
        </p:nvSpPr>
        <p:spPr>
          <a:xfrm>
            <a:off x="1584888" y="2463370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Frozen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6B6B2-FA2A-9A6C-1CE0-97CF2D914E40}"/>
              </a:ext>
            </a:extLst>
          </p:cNvPr>
          <p:cNvSpPr txBox="1"/>
          <p:nvPr/>
        </p:nvSpPr>
        <p:spPr>
          <a:xfrm>
            <a:off x="1674635" y="2931502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casual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2BB1C-006C-6B20-DF7A-F7147CF00398}"/>
              </a:ext>
            </a:extLst>
          </p:cNvPr>
          <p:cNvSpPr txBox="1"/>
          <p:nvPr/>
        </p:nvSpPr>
        <p:spPr>
          <a:xfrm>
            <a:off x="1674635" y="3378257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frozen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63DA0-6362-8EB5-2873-A393B99CC881}"/>
              </a:ext>
            </a:extLst>
          </p:cNvPr>
          <p:cNvSpPr txBox="1"/>
          <p:nvPr/>
        </p:nvSpPr>
        <p:spPr>
          <a:xfrm>
            <a:off x="1716949" y="3846389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frozen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0384AF-43E5-6198-1BB1-6A3CC906D107}"/>
              </a:ext>
            </a:extLst>
          </p:cNvPr>
          <p:cNvSpPr txBox="1"/>
          <p:nvPr/>
        </p:nvSpPr>
        <p:spPr>
          <a:xfrm>
            <a:off x="783847" y="4251642"/>
            <a:ext cx="3055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conversational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C9D532-CDDB-495D-36B5-AC351D4E2C2C}"/>
              </a:ext>
            </a:extLst>
          </p:cNvPr>
          <p:cNvSpPr txBox="1"/>
          <p:nvPr/>
        </p:nvSpPr>
        <p:spPr>
          <a:xfrm>
            <a:off x="1716949" y="4678287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casual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A5D25C-291A-8559-B014-61ECB5E8A8EC}"/>
              </a:ext>
            </a:extLst>
          </p:cNvPr>
          <p:cNvSpPr txBox="1"/>
          <p:nvPr/>
        </p:nvSpPr>
        <p:spPr>
          <a:xfrm>
            <a:off x="1692986" y="5104932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frozen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7F2E4-6220-F4FB-20DF-4C38DD5E90B3}"/>
              </a:ext>
            </a:extLst>
          </p:cNvPr>
          <p:cNvSpPr txBox="1"/>
          <p:nvPr/>
        </p:nvSpPr>
        <p:spPr>
          <a:xfrm>
            <a:off x="1737859" y="5500014"/>
            <a:ext cx="247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casual</a:t>
            </a:r>
          </a:p>
        </p:txBody>
      </p:sp>
    </p:spTree>
    <p:extLst>
      <p:ext uri="{BB962C8B-B14F-4D97-AF65-F5344CB8AC3E}">
        <p14:creationId xmlns:p14="http://schemas.microsoft.com/office/powerpoint/2010/main" val="326175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786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ARNEL ENOC</dc:creator>
  <cp:lastModifiedBy>ARNEL ENOC</cp:lastModifiedBy>
  <cp:revision>21</cp:revision>
  <dcterms:created xsi:type="dcterms:W3CDTF">2023-08-28T01:41:27Z</dcterms:created>
  <dcterms:modified xsi:type="dcterms:W3CDTF">2025-08-11T11:44:27Z</dcterms:modified>
</cp:coreProperties>
</file>